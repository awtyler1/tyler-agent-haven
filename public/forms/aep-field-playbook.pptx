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682645-554D-4753-B3CE-63BA87C5FBE5}" v="6" dt="2026-08-21T16:51:03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9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Price" userId="00b39ed4bf9e8a69" providerId="LiveId" clId="{CAEB66BD-A83A-486D-9362-0239643369C5}"/>
    <pc:docChg chg="modSld">
      <pc:chgData name="Eric Price" userId="00b39ed4bf9e8a69" providerId="LiveId" clId="{CAEB66BD-A83A-486D-9362-0239643369C5}" dt="2026-08-21T16:51:03.509" v="5"/>
      <pc:docMkLst>
        <pc:docMk/>
      </pc:docMkLst>
      <pc:sldChg chg="modAnim">
        <pc:chgData name="Eric Price" userId="00b39ed4bf9e8a69" providerId="LiveId" clId="{CAEB66BD-A83A-486D-9362-0239643369C5}" dt="2026-08-21T16:51:03.509" v="5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451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AEP BROKER PLAYBOOK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6404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2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• PROTECT • PRODUCE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200000">
            <a:off x="7955280" y="137160"/>
            <a:ext cx="4114800" cy="4114800"/>
          </a:xfrm>
          <a:prstGeom prst="arc">
            <a:avLst/>
          </a:prstGeom>
          <a:solidFill>
            <a:srgbClr val="15465C">
              <a:alpha val="85000"/>
            </a:srgbClr>
          </a:solidFill>
          <a:ln w="12700">
            <a:solidFill>
              <a:srgbClr val="154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600000">
            <a:off x="8686800" y="3749040"/>
            <a:ext cx="3291840" cy="2926080"/>
          </a:xfrm>
          <a:prstGeom prst="arc">
            <a:avLst/>
          </a:prstGeom>
          <a:solidFill>
            <a:srgbClr val="0E8A83">
              <a:alpha val="88000"/>
            </a:srgbClr>
          </a:solidFill>
          <a:ln w="12700">
            <a:solidFill>
              <a:srgbClr val="0E8A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62179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6445A"/>
          </a:solidFill>
          <a:ln w="12700">
            <a:solidFill>
              <a:srgbClr val="164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58368" y="6217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MEDICARE AEP • FIELD PLAYBOOK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417320"/>
            <a:ext cx="6675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AEP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AEP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82112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8E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world-class planning system for new brokers building momentum and veteran brokers protecting — then expanding — a book of business.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4407408"/>
            <a:ext cx="4846320" cy="0"/>
          </a:xfrm>
          <a:prstGeom prst="line">
            <a:avLst/>
          </a:prstGeom>
          <a:noFill/>
          <a:ln w="381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BROKER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010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machine.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 BROKER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50109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Defend. Deepen. Grow.</a:t>
            </a: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5E3A56-FD4D-0509-F680-40CD21C05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29" y="466344"/>
            <a:ext cx="2568555" cy="8706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PREMISE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AEP is an execution season — not a planning season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producers enter October with a protected book, a full calendar, and a measurable activity engine.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E9F5F4"/>
          </a:solidFill>
          <a:ln w="12700">
            <a:solidFill>
              <a:srgbClr val="D9E0E4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176272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clients reviewed first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93008" y="196596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2176272"/>
            <a:ext cx="493776" cy="493776"/>
          </a:xfrm>
          <a:prstGeom prst="ellipse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657600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 + venues + partners locked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80176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345936" y="196596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0528" y="2176272"/>
            <a:ext cx="493776" cy="493776"/>
          </a:xfrm>
          <a:prstGeom prst="ellipse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10528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activity targets executed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833104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198864" y="196596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63456" y="2176272"/>
            <a:ext cx="493776" cy="493776"/>
          </a:xfrm>
          <a:prstGeom prst="ellipse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363456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63456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363456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adjusted every 48 hours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14400" y="4937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AEP question is not “What should I do today?”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4937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FE7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“What does my plan say I do next?”</a:t>
            </a:r>
            <a:endParaRPr lang="en-US" sz="17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STARTING POINTS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and veteran brokers should not run the same AEP plan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season. Different assets. Different risks. Different first move.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2140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214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BROKER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asset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+ hunger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risk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enough conversations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03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move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activity density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34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condition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pipeline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37960" y="21214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537960" y="21214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 BROKER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asset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+ reputation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risk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Losing clients by neglect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803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move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book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334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condition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+ expansion</a:t>
            </a:r>
            <a:endParaRPr lang="en-US" sz="1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PRIORITY STACK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each broker should spend the first 100 units of effort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the default allocation — then adjust from your actual pipeline.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1500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00684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client reviews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2295144"/>
            <a:ext cx="365760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86200" y="2295144"/>
            <a:ext cx="731520" cy="182880"/>
          </a:xfrm>
          <a:prstGeom prst="rect">
            <a:avLst/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635240" y="2240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58200" y="2295144"/>
            <a:ext cx="219456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58200" y="2295144"/>
            <a:ext cx="1975104" cy="182880"/>
          </a:xfrm>
          <a:prstGeom prst="rect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744200" y="2240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254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Referrals / introductions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86200" y="2880360"/>
            <a:ext cx="365760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86200" y="2880360"/>
            <a:ext cx="1097280" cy="182880"/>
          </a:xfrm>
          <a:prstGeom prst="rect">
            <a:avLst/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635240" y="28254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58200" y="2880360"/>
            <a:ext cx="219456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58200" y="2880360"/>
            <a:ext cx="877824" cy="182880"/>
          </a:xfrm>
          <a:prstGeom prst="rect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744200" y="28254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410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/ community presence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86200" y="3465576"/>
            <a:ext cx="365760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86200" y="3465576"/>
            <a:ext cx="2194560" cy="182880"/>
          </a:xfrm>
          <a:prstGeom prst="rect">
            <a:avLst/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635240" y="34107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58200" y="3465576"/>
            <a:ext cx="219456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58200" y="3465576"/>
            <a:ext cx="438912" cy="182880"/>
          </a:xfrm>
          <a:prstGeom prst="rect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10744200" y="34107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995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/ seminars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886200" y="4050792"/>
            <a:ext cx="365760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86200" y="4050792"/>
            <a:ext cx="1463040" cy="182880"/>
          </a:xfrm>
          <a:prstGeom prst="rect">
            <a:avLst/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635240" y="39959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58200" y="4050792"/>
            <a:ext cx="219456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458200" y="4050792"/>
            <a:ext cx="438912" cy="182880"/>
          </a:xfrm>
          <a:prstGeom prst="rect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0744200" y="39959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5811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partnerships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886200" y="4636008"/>
            <a:ext cx="365760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886200" y="4636008"/>
            <a:ext cx="1097280" cy="182880"/>
          </a:xfrm>
          <a:prstGeom prst="rect">
            <a:avLst/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635240" y="45811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458200" y="4636008"/>
            <a:ext cx="219456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458200" y="4636008"/>
            <a:ext cx="438912" cy="182880"/>
          </a:xfrm>
          <a:prstGeom prst="rect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744200" y="45811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51663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follow-up / reactivation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86200" y="5221224"/>
            <a:ext cx="365760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86200" y="5221224"/>
            <a:ext cx="731520" cy="182880"/>
          </a:xfrm>
          <a:prstGeom prst="rect">
            <a:avLst/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7635240" y="5166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458200" y="5221224"/>
            <a:ext cx="2194560" cy="182880"/>
          </a:xfrm>
          <a:prstGeom prst="rect">
            <a:avLst/>
          </a:prstGeom>
          <a:solidFill>
            <a:srgbClr val="E9EDF0"/>
          </a:solidFill>
          <a:ln w="12700">
            <a:solidFill>
              <a:srgbClr val="E9E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458200" y="5221224"/>
            <a:ext cx="219456" cy="182880"/>
          </a:xfrm>
          <a:prstGeom prst="rect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10744200" y="5166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allocation — the point is priority, not precision.</a:t>
            </a:r>
            <a:endParaRPr lang="en-US" sz="11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 PLAYBOOK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#1: defend the book before chasing strangers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existing clients are your highest-probability conversations — and the most expensive relationships to neglect.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8288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51760" y="190195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651760" y="19019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B / 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828800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by plan disruption, needs, tenure, and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96696" y="2322576"/>
            <a:ext cx="0" cy="292608"/>
          </a:xfrm>
          <a:prstGeom prst="line">
            <a:avLst/>
          </a:prstGeom>
          <a:noFill/>
          <a:ln w="25400">
            <a:solidFill>
              <a:srgbClr val="B8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2615184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26151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268833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651760" y="26883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AEP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615184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Pre-book reviews so October is not chaos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6696" y="3108960"/>
            <a:ext cx="0" cy="292608"/>
          </a:xfrm>
          <a:prstGeom prst="line">
            <a:avLst/>
          </a:prstGeom>
          <a:noFill/>
          <a:ln w="25400">
            <a:solidFill>
              <a:srgbClr val="B8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" y="3401568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9808" y="3401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4015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51760" y="34747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2651760" y="34747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first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3401568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Coverage, providers, Rx, budget, ancillary gaps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96696" y="3895344"/>
            <a:ext cx="0" cy="292608"/>
          </a:xfrm>
          <a:prstGeom prst="line">
            <a:avLst/>
          </a:prstGeom>
          <a:noFill/>
          <a:ln w="25400">
            <a:solidFill>
              <a:srgbClr val="B8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808" y="4187952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49808" y="4187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187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651760" y="426110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651760" y="4261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Same-day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160520" y="4187952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loops; do not create a service backlog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96696" y="4681728"/>
            <a:ext cx="0" cy="292608"/>
          </a:xfrm>
          <a:prstGeom prst="line">
            <a:avLst/>
          </a:prstGeom>
          <a:noFill/>
          <a:ln w="25400">
            <a:solidFill>
              <a:srgbClr val="B8D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9808" y="4974336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49808" y="4974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49743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651760" y="5047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F0F4"/>
          </a:solidFill>
          <a:ln w="12700">
            <a:solidFill>
              <a:srgbClr val="E8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2651760" y="50474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Earned referral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160520" y="4974336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value is delivered, ask for an introduction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863840" y="5687568"/>
            <a:ext cx="3383280" cy="548640"/>
          </a:xfrm>
          <a:prstGeom prst="roundRect">
            <a:avLst>
              <a:gd name="adj" fmla="val 20000"/>
            </a:avLst>
          </a:prstGeom>
          <a:solidFill>
            <a:srgbClr val="FFF4EA"/>
          </a:solidFill>
          <a:ln w="12700">
            <a:solidFill>
              <a:srgbClr val="F6D2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092440" y="5797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is production.</a:t>
            </a:r>
            <a:endParaRPr lang="en-US" sz="15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REVIEW SYSTEM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15-minute review should feel structured — not rushed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every existing client the same disciplined experience.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106527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002536"/>
            <a:ext cx="365760" cy="310896"/>
          </a:xfrm>
          <a:prstGeom prst="roundRect">
            <a:avLst>
              <a:gd name="adj" fmla="val 5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20025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94767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947672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Doctors • prescriptions • pharmacy • travel • finances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633472"/>
            <a:ext cx="106527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2688" y="2761488"/>
            <a:ext cx="365760" cy="310896"/>
          </a:xfrm>
          <a:prstGeom prst="roundRect">
            <a:avLst>
              <a:gd name="adj" fmla="val 5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32688" y="27614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70662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706624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current plan still aligned with what matters now?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" y="3392424"/>
            <a:ext cx="106527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" y="3520440"/>
            <a:ext cx="365760" cy="310896"/>
          </a:xfrm>
          <a:prstGeom prst="roundRect">
            <a:avLst>
              <a:gd name="adj" fmla="val 5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32688" y="35204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46557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3465576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Dental • vision • hospital • cancer • life • LTC needs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4151376"/>
            <a:ext cx="106527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32688" y="4279392"/>
            <a:ext cx="365760" cy="310896"/>
          </a:xfrm>
          <a:prstGeom prst="roundRect">
            <a:avLst>
              <a:gd name="adj" fmla="val 5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32688" y="4279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2245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4224528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Stay, change, or schedule a follow-up with clear next step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9808" y="4910328"/>
            <a:ext cx="10652760" cy="566928"/>
          </a:xfrm>
          <a:prstGeom prst="roundRect">
            <a:avLst>
              <a:gd name="adj" fmla="val 19355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32688" y="5038344"/>
            <a:ext cx="36576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32688" y="503834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49834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788920" y="498348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“Who else would benefit from a review like this?”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96188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Compliance: use current CMS, carrier, permission-to-contact, scope-of-appointment, and marketing rules applicable to each interaction.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BROKER PLAYBOOK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advantage is volume of quality activity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do not need a giant book. You need a calendar that creates enough conversations to build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423160" cy="1874520"/>
          </a:xfrm>
          <a:prstGeom prst="roundRect">
            <a:avLst>
              <a:gd name="adj" fmla="val 5854"/>
            </a:avLst>
          </a:prstGeom>
          <a:solidFill>
            <a:srgbClr val="FFF4EA"/>
          </a:solidFill>
          <a:ln w="12700">
            <a:solidFill>
              <a:srgbClr val="F6D2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outbound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0440" y="1874520"/>
            <a:ext cx="2423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03320" y="2103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/ field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blocks weekly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2423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92240" y="2103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touches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98280" y="1874520"/>
            <a:ext cx="2423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81160" y="2103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 ask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appointment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broker mindset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754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“wait for leads.” Build places, partnerships and reasons for people to meet you.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ACTIVITY ENGINE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six lanes so no single lead source can control your AEP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to six active channels is usually enough — if each has a weekly target.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401568" cy="1536192"/>
          </a:xfrm>
          <a:prstGeom prst="roundRect">
            <a:avLst>
              <a:gd name="adj" fmla="val 7143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011680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96112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542032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where eligible consumers already go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4015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93776" cy="493776"/>
          </a:xfrm>
          <a:prstGeom prst="ellipse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63440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events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542032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 + community visibility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47888" y="1828800"/>
            <a:ext cx="34015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0768" y="2011680"/>
            <a:ext cx="493776" cy="493776"/>
          </a:xfrm>
          <a:prstGeom prst="ellipse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30768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70848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events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2542032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 co-op and local market activity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3730752"/>
            <a:ext cx="34015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96112" y="3913632"/>
            <a:ext cx="493776" cy="493776"/>
          </a:xfrm>
          <a:prstGeom prst="ellipse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96112" y="3913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36192" y="3895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4443984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service into introductions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80560" y="3730752"/>
            <a:ext cx="34015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913632"/>
            <a:ext cx="493776" cy="493776"/>
          </a:xfrm>
          <a:prstGeom prst="ellipse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663440" y="3913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895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partners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443984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Doctors • dentists • CPAs • P&amp;C • pharmacies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47888" y="3730752"/>
            <a:ext cx="34015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430768" y="3913632"/>
            <a:ext cx="493776" cy="493776"/>
          </a:xfrm>
          <a:prstGeom prst="ellipse">
            <a:avLst/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430768" y="3913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070848" y="3895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+ reactivation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430768" y="4443984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follow-up + disciplined nurture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works when it is treated like a business — not a chair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 is not “hours worked.” It is qualified conversations, appointments, and follow-up.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28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87168" y="18288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+ demographic fit + permission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596896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5968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5237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25237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Professional, simple, visible, compliant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329184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218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487168" y="32186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Helpful question — not a hard pitch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986784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39867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3913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487168" y="39136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+ contact + next step immediately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681728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46817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4608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487168" y="46085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day whenever possible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1828800"/>
            <a:ext cx="4800600" cy="3611880"/>
          </a:xfrm>
          <a:prstGeom prst="roundRect">
            <a:avLst>
              <a:gd name="adj" fmla="val 3038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748272" y="2121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SCOREBOARD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2697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26974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FE7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48272" y="3090672"/>
            <a:ext cx="3886200" cy="0"/>
          </a:xfrm>
          <a:prstGeom prst="line">
            <a:avLst/>
          </a:prstGeom>
          <a:noFill/>
          <a:ln w="12700">
            <a:solidFill>
              <a:srgbClr val="36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748272" y="32004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 set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32004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FE7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48272" y="3593592"/>
            <a:ext cx="3886200" cy="0"/>
          </a:xfrm>
          <a:prstGeom prst="line">
            <a:avLst/>
          </a:prstGeom>
          <a:noFill/>
          <a:ln w="12700">
            <a:solidFill>
              <a:srgbClr val="36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748272" y="3703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 held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738360" y="37033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FE7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48272" y="4096512"/>
            <a:ext cx="3886200" cy="0"/>
          </a:xfrm>
          <a:prstGeom prst="line">
            <a:avLst/>
          </a:prstGeom>
          <a:noFill/>
          <a:ln w="12700">
            <a:solidFill>
              <a:srgbClr val="36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748272" y="4206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738360" y="42062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FE7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48272" y="4599432"/>
            <a:ext cx="3886200" cy="0"/>
          </a:xfrm>
          <a:prstGeom prst="line">
            <a:avLst/>
          </a:prstGeom>
          <a:noFill/>
          <a:ln w="12700">
            <a:solidFill>
              <a:srgbClr val="36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748272" y="47091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Referrals generated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738360" y="47091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FE7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6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+ PARTNERSHIPS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 trust before you build scale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field strategy creates repeated access to communities — not one-off transactions.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8288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10 organizations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8288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communities • providers • pharmacies • employers • associations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2788920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88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usefulness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78892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Education, Q&amp;A, office hours, client support — not “buy from me”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9808" y="3749040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9808" y="37490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repetition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74904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beats heroic: recurring visibility builds familiarity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" y="4709160"/>
            <a:ext cx="493776" cy="493776"/>
          </a:xfrm>
          <a:prstGeom prst="ellipse">
            <a:avLst/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9808" y="4709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709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next step easy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470916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QR / call / calendar / follow-up process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" y="5687568"/>
            <a:ext cx="10607040" cy="530352"/>
          </a:xfrm>
          <a:prstGeom prst="roundRect">
            <a:avLst>
              <a:gd name="adj" fmla="val 20690"/>
            </a:avLst>
          </a:prstGeom>
          <a:solidFill>
            <a:srgbClr val="FFF4EA"/>
          </a:solidFill>
          <a:ln w="12700">
            <a:solidFill>
              <a:srgbClr val="F6D2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05840" y="5788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own a recurring place on someone else’s calendar.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Veterans have a hidden lead source: satisfied clients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referral ask works best after a moment of value — not as an awkward closing script.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1762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420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077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 something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48716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44368" y="20116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90672" y="21762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25420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29077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sure they feel clear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48716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230368" y="20116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376672" y="21762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76672" y="25420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76672" y="29077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an introduction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48716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16368" y="20116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62672" y="21762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62672" y="25420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62672" y="29077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easy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248716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802368" y="20116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948672" y="21762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948672" y="25420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948672" y="29077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the loop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25880" y="4160520"/>
            <a:ext cx="9555480" cy="1143000"/>
          </a:xfrm>
          <a:prstGeom prst="roundRect">
            <a:avLst>
              <a:gd name="adj" fmla="val 96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627632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principle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627632" y="473659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“If this review was helpful, who else in your circle would appreciate the same kind of help?”</a:t>
            </a:r>
            <a:endParaRPr lang="en-US" sz="17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OPERATING RHYTHM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the strategy on the calendar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AEP gets easier when every block has a job.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BROKER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 BROKER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402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57860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59536" y="2743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+ calls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431596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59536" y="448056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reviews</a:t>
            </a:r>
            <a:endParaRPr lang="en-US" sz="1220" dirty="0"/>
          </a:p>
        </p:txBody>
      </p:sp>
      <p:sp>
        <p:nvSpPr>
          <p:cNvPr id="12" name="Text 10"/>
          <p:cNvSpPr txBox="1"/>
          <p:nvPr/>
        </p:nvSpPr>
        <p:spPr>
          <a:xfrm>
            <a:off x="2596896" y="22402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96896" y="257860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FFF4EA"/>
          </a:solidFill>
          <a:ln w="12700">
            <a:solidFill>
              <a:srgbClr val="F6D2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706624" y="2743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block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96896" y="431596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706624" y="448056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reviews</a:t>
            </a:r>
            <a:endParaRPr lang="en-US" sz="122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22402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43984" y="257860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53712" y="2743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visits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43984" y="431596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53712" y="448056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reviews + referrals</a:t>
            </a:r>
            <a:endParaRPr lang="en-US" sz="122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22402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91072" y="257860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FFF4EA"/>
          </a:solidFill>
          <a:ln w="12700">
            <a:solidFill>
              <a:srgbClr val="F6D2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0" y="2743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block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431596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0" y="448056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reviews</a:t>
            </a:r>
            <a:endParaRPr lang="en-US" sz="122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402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257860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247888" y="2743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+ follow-up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38160" y="431596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47888" y="448056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Catch-up + referrals</a:t>
            </a:r>
            <a:endParaRPr lang="en-US" sz="1220" dirty="0"/>
          </a:p>
        </p:txBody>
      </p:sp>
      <p:sp>
        <p:nvSpPr>
          <p:cNvPr id="32" name="Text 30"/>
          <p:cNvSpPr txBox="1"/>
          <p:nvPr/>
        </p:nvSpPr>
        <p:spPr>
          <a:xfrm>
            <a:off x="9985248" y="22402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985248" y="257860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0094976" y="2743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/ events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985248" y="4315968"/>
            <a:ext cx="162763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10094976" y="448056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/ overflow</a:t>
            </a:r>
            <a:endParaRPr lang="en-US" sz="122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60–90 minutes daily for same-day follow-up — for both tracks.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 MATH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an enrollment goal into daily behavior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 become useful only after they are translated into appointments and conversations.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30936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630936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41448" y="25786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1874520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962656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÷ CLOSE RATE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962656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290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held appts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25786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66360" y="1874520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294376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HELD APPTS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125</a:t>
            </a:r>
            <a:endParaRPr lang="en-US" sz="2900" dirty="0"/>
          </a:p>
        </p:txBody>
      </p:sp>
      <p:sp>
        <p:nvSpPr>
          <p:cNvPr id="18" name="Text 16"/>
          <p:cNvSpPr txBox="1"/>
          <p:nvPr/>
        </p:nvSpPr>
        <p:spPr>
          <a:xfrm>
            <a:off x="5294376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5786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98080" y="1874520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26096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÷ SHOW RATE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26096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2900" dirty="0"/>
          </a:p>
        </p:txBody>
      </p:sp>
      <p:sp>
        <p:nvSpPr>
          <p:cNvPr id="23" name="Text 21"/>
          <p:cNvSpPr txBox="1"/>
          <p:nvPr/>
        </p:nvSpPr>
        <p:spPr>
          <a:xfrm>
            <a:off x="7626096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 set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36608" y="25786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829800" y="1874520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957816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SET APPTS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957816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156</a:t>
            </a:r>
            <a:endParaRPr lang="en-US" sz="2900" dirty="0"/>
          </a:p>
        </p:txBody>
      </p:sp>
      <p:sp>
        <p:nvSpPr>
          <p:cNvPr id="28" name="Text 26"/>
          <p:cNvSpPr txBox="1"/>
          <p:nvPr/>
        </p:nvSpPr>
        <p:spPr>
          <a:xfrm>
            <a:off x="9957816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234440" y="4315968"/>
            <a:ext cx="9738360" cy="1097280"/>
          </a:xfrm>
          <a:prstGeom prst="roundRect">
            <a:avLst>
              <a:gd name="adj" fmla="val 1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508760" y="45537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divide by your available selling days.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45537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FE7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156 appointments ÷ 44 days = ~3.5 appointments set/day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715000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SCOREBOARD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leading indicators — not just enrollments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scoreboard only shows sales, you learn about a problem too late.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FFF4EA"/>
          </a:solidFill>
          <a:ln w="12700">
            <a:solidFill>
              <a:srgbClr val="F6D2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0574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96112" y="20574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7432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 attempts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7432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33284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32841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39136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 set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9136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44988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 held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4988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07992" y="182880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20574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690872" y="20574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27432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rate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27432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36592" y="33284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rate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2841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39136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 rate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9136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36592" y="44988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Same-day follow-up %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4988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02752" y="1828800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85632" y="20574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485632" y="20574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31352" y="27432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27432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531352" y="33284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/ saves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332841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531352" y="39136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Ancillary conversations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0" y="39136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531352" y="44988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Partner-sourced leads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0" y="44988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57424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every 48 hours. Fix the weakest conversion point first.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AEP CADENCE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Eight weeks. Four phases. One operating system.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changes as the season moves — your calendar should change with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08483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20848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700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735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56616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clients + early pipeline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343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617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service levels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87452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0" y="208483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657600" y="20848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6700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2735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56616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+ events + referrals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343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617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appointment density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1072" y="187452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73952" y="208483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73952" y="20848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26700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32735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356616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Best-fit opportunities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4343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73952" y="4617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capacity + follow-up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07424" y="187452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90304" y="208483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290304" y="20848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0304" y="26700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290304" y="32735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290304" y="356616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loops + undecided clients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290304" y="4343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290304" y="4617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orphaned leads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6967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5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let urgency erase compliance, documentation, or client experience.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0E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48-HOUR ACTION 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 this room with an AEP plan you can execute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78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track that matches your business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FFF4EA"/>
          </a:solidFill>
          <a:ln w="12700">
            <a:solidFill>
              <a:srgbClr val="F6D2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08483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20848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BROKER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2743200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60120" y="274320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066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4–6 lead channels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218688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321868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1821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3 field / retail blocks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694176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60120" y="369417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57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10 partner targets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4169664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60120" y="416966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330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daily conversation target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4645152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60120" y="464515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608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follow-up scoreboard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6208" y="182880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E9F5F4"/>
          </a:solidFill>
          <a:ln w="12700">
            <a:solidFill>
              <a:srgbClr val="B8DD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20848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92240" y="20848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 BROKER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10528" y="2743200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510528" y="274320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27066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the existing book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10528" y="3218688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510528" y="321868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3182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Pre-book priority reviews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10528" y="3694176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510528" y="369417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967728" y="3657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disruption / risk list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10528" y="4169664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510528" y="416966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967728" y="41330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referral ask into reviews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10528" y="4645152"/>
            <a:ext cx="320040" cy="310896"/>
          </a:xfrm>
          <a:prstGeom prst="roundRect">
            <a:avLst>
              <a:gd name="adj" fmla="val 50000"/>
            </a:avLst>
          </a:prstGeom>
          <a:solidFill>
            <a:srgbClr val="0E8A83"/>
          </a:solidFill>
          <a:ln w="12700">
            <a:solidFill>
              <a:srgbClr val="0E8A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510528" y="464515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967728" y="46085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overflow + service capacity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58064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kern="0" spc="120" dirty="0">
                <a:solidFill>
                  <a:srgbClr val="0B2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WORK.  WORK THE PLAN.  MEASURE THE WORK.</a:t>
            </a:r>
            <a:endParaRPr lang="en-US" sz="1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8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E34"/>
                </a:solidFill>
                <a:latin typeface="Aptos"/>
              </a:rPr>
              <a:t>CALLING EXISTING CLIENTS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06F80"/>
                </a:solidFill>
                <a:latin typeface="Aptos"/>
              </a:rPr>
              <a:t>For veterans, this is the opening move. For new brokers, it is the habit to build from day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234440"/>
          </a:xfrm>
          <a:prstGeom prst="rect">
            <a:avLst/>
          </a:prstGeom>
          <a:solidFill>
            <a:srgbClr val="18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NEW BROKER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4301177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Smaller book? Contact every client. Use each review to create retention,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referrals and a repeatable service reputation.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73152" cy="1234440"/>
          </a:xfrm>
          <a:prstGeom prst="rect">
            <a:avLst/>
          </a:prstGeom>
          <a:solidFill>
            <a:srgbClr val="26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VETERAN BROKER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591321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Protect the revenue base before prospecting. Triage clients by disruption risk,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plan change, provider/Rx changes and likelihood to shop.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690372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16352"/>
            <a:ext cx="73152" cy="3182112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6537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AEP EXECUTION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19272"/>
            <a:ext cx="6210867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1. Segment the book: HIGH CHANGE / REVIEW / STABLE.</a:t>
            </a:r>
            <a:br>
              <a:rPr dirty="0"/>
            </a:br>
            <a:r>
              <a:rPr dirty="0"/>
              <a:t>2. Pre-book reviews before the AEP calendar fills.</a:t>
            </a:r>
            <a:br>
              <a:rPr dirty="0"/>
            </a:br>
            <a:r>
              <a:rPr dirty="0"/>
              <a:t>3. Review doctors, Rx, pharmacy, travel, benefits and budget.</a:t>
            </a:r>
            <a:br>
              <a:rPr dirty="0"/>
            </a:br>
            <a:r>
              <a:rPr dirty="0"/>
              <a:t>4. Resolve high-risk clients first; document outcomes.</a:t>
            </a:r>
            <a:br>
              <a:rPr dirty="0"/>
            </a:br>
            <a:r>
              <a:rPr dirty="0"/>
              <a:t>5. After delivering value, ask for introductions.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16352"/>
            <a:ext cx="381304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73152" cy="1536192"/>
          </a:xfrm>
          <a:prstGeom prst="rect">
            <a:avLst/>
          </a:prstGeom>
          <a:solidFill>
            <a:srgbClr val="BE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95351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MEASURE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19272"/>
            <a:ext cx="3164649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Contact % • Reviews booked • Reviews completed •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Retention % • Referrals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53712"/>
            <a:ext cx="3813048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4553712"/>
            <a:ext cx="73152" cy="1444752"/>
          </a:xfrm>
          <a:prstGeom prst="rect">
            <a:avLst/>
          </a:prstGeom>
          <a:solidFill>
            <a:srgbClr val="A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69087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WATCH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056632"/>
            <a:ext cx="2669320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Do not make this a mass “checking in” call.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Prioritize, schedule and document.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6F80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E34"/>
                </a:solidFill>
                <a:latin typeface="Aptos"/>
              </a:rPr>
              <a:t>PLAN CHANGES &amp; DISRUPTION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06F80"/>
                </a:solidFill>
                <a:latin typeface="Aptos"/>
              </a:rPr>
              <a:t>Plan change creates urgency — turn that urgency into a disciplined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234440"/>
          </a:xfrm>
          <a:prstGeom prst="rect">
            <a:avLst/>
          </a:prstGeom>
          <a:solidFill>
            <a:srgbClr val="18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NEW BROKER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4642618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Learn the major local plan/network changes well enough to identify who needs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a review and use disruption to earn conversations.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73152" cy="1234440"/>
          </a:xfrm>
          <a:prstGeom prst="rect">
            <a:avLst/>
          </a:prstGeom>
          <a:solidFill>
            <a:srgbClr val="26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VETERAN BROKER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543231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Build a change-management list across the book. Identify affected members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proactively instead of waiting for inbound calls.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690372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16352"/>
            <a:ext cx="73152" cy="3182112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6537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AEP EXECUTION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19272"/>
            <a:ext cx="65379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1. Build a market-change matrix by carrier/plan.</a:t>
            </a:r>
            <a:br>
              <a:rPr dirty="0"/>
            </a:br>
            <a:r>
              <a:rPr dirty="0"/>
              <a:t>2. Flag clients affected by exits, material benefit changes, formulary/network or premium changes.</a:t>
            </a:r>
            <a:br>
              <a:rPr dirty="0"/>
            </a:br>
            <a:r>
              <a:rPr dirty="0"/>
              <a:t>3. Rank by urgency.</a:t>
            </a:r>
            <a:br>
              <a:rPr dirty="0"/>
            </a:br>
            <a:r>
              <a:rPr dirty="0"/>
              <a:t>4. Compare based on current needs — not last year’s fit.</a:t>
            </a:r>
            <a:br>
              <a:rPr dirty="0"/>
            </a:br>
            <a:r>
              <a:rPr dirty="0"/>
              <a:t>5. Keep a daily unresolved-change queue.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16352"/>
            <a:ext cx="381304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73152" cy="1536192"/>
          </a:xfrm>
          <a:prstGeom prst="rect">
            <a:avLst/>
          </a:prstGeom>
          <a:solidFill>
            <a:srgbClr val="BE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95351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MEASURE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19272"/>
            <a:ext cx="2794355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Affected clients • % contacted • % reviewed •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Unresolved • Retention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53712"/>
            <a:ext cx="3813048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4553712"/>
            <a:ext cx="73152" cy="1444752"/>
          </a:xfrm>
          <a:prstGeom prst="rect">
            <a:avLst/>
          </a:prstGeom>
          <a:solidFill>
            <a:srgbClr val="A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69087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WATCH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056632"/>
            <a:ext cx="2656496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Verify the member’s actual plan, providers,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prescriptions and current-year materials.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6F80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E34"/>
                </a:solidFill>
                <a:latin typeface="Aptos"/>
              </a:rPr>
              <a:t>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06F80"/>
                </a:solidFill>
                <a:latin typeface="Aptos"/>
              </a:rPr>
              <a:t>Retail is a production channel only when traffic, scheduling, follow-up and conversion are managed.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234440"/>
          </a:xfrm>
          <a:prstGeom prst="rect">
            <a:avLst/>
          </a:prstGeom>
          <a:solidFill>
            <a:srgbClr val="18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NEW BROKER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3583032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Use retail to create conversation volume and local visibility.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Choose fewer locations and work them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73152" cy="1234440"/>
          </a:xfrm>
          <a:prstGeom prst="rect">
            <a:avLst/>
          </a:prstGeom>
          <a:solidFill>
            <a:srgbClr val="26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VETERAN BROKER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580100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Use proven locations strategically. Staff peak windows, rotate team coverage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and convert walk-ups into scheduled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690372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16352"/>
            <a:ext cx="73152" cy="3182112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6537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AEP EXECUTION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19272"/>
            <a:ext cx="65379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1. Select locations by eligible traffic and access.</a:t>
            </a:r>
            <a:br>
              <a:rPr dirty="0"/>
            </a:br>
            <a:r>
              <a:rPr dirty="0"/>
              <a:t>2. Schedule recurring blocks.</a:t>
            </a:r>
            <a:br>
              <a:rPr dirty="0"/>
            </a:br>
            <a:r>
              <a:rPr dirty="0"/>
              <a:t>3. Use a simple compliant setup and appointment capture process.</a:t>
            </a:r>
            <a:br>
              <a:rPr dirty="0"/>
            </a:br>
            <a:r>
              <a:rPr dirty="0"/>
              <a:t>4. Track every meaningful conversation.</a:t>
            </a:r>
            <a:br>
              <a:rPr dirty="0"/>
            </a:br>
            <a:r>
              <a:rPr dirty="0"/>
              <a:t>5. Follow up same day.</a:t>
            </a:r>
            <a:br>
              <a:rPr dirty="0"/>
            </a:br>
            <a:r>
              <a:rPr dirty="0"/>
              <a:t>6. Shift hours toward locations producing appointments and enrollments.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16352"/>
            <a:ext cx="381304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73152" cy="1536192"/>
          </a:xfrm>
          <a:prstGeom prst="rect">
            <a:avLst/>
          </a:prstGeom>
          <a:solidFill>
            <a:srgbClr val="BE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95351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MEASURE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19272"/>
            <a:ext cx="2824812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Hours • Conversations/hour • Appointments •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Show rate • Enrollments/location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53712"/>
            <a:ext cx="3813048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4553712"/>
            <a:ext cx="73152" cy="1444752"/>
          </a:xfrm>
          <a:prstGeom prst="rect">
            <a:avLst/>
          </a:prstGeom>
          <a:solidFill>
            <a:srgbClr val="A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69087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WATCH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056632"/>
            <a:ext cx="3087705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Do not confuse sitting time with selling activity.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Change locations that do not create conversations.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6F80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E34"/>
                </a:solidFill>
                <a:latin typeface="Aptos"/>
              </a:rPr>
              <a:t>BUYING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 dirty="0">
                <a:solidFill>
                  <a:srgbClr val="606F80"/>
                </a:solidFill>
                <a:latin typeface="Aptos"/>
              </a:rPr>
              <a:t>Paid leads should supplement a system — not become the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234440"/>
          </a:xfrm>
          <a:prstGeom prst="rect">
            <a:avLst/>
          </a:prstGeom>
          <a:solidFill>
            <a:srgbClr val="18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NEW BROKER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4105611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Use a controlled test budget. Speed-to-lead and persistent follow-up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matter more than buying a huge batch.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73152" cy="1234440"/>
          </a:xfrm>
          <a:prstGeom prst="rect">
            <a:avLst/>
          </a:prstGeom>
          <a:solidFill>
            <a:srgbClr val="26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VETERAN BROKER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225837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Benchmark vendors by true cost per held appointment and enrollment.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Use paid leads to fill calendar gaps.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690372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16352"/>
            <a:ext cx="73152" cy="3182112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6537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AEP EXECUTION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19272"/>
            <a:ext cx="6500882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1. Define weekly budget and maximum acquisition cost.</a:t>
            </a:r>
            <a:br>
              <a:rPr dirty="0"/>
            </a:br>
            <a:r>
              <a:rPr dirty="0"/>
              <a:t>2. Test small cohorts; tag every lead by source/date.</a:t>
            </a:r>
            <a:br>
              <a:rPr dirty="0"/>
            </a:br>
            <a:r>
              <a:rPr dirty="0"/>
              <a:t>3. Contact quickly and use a multi-touch cadence.</a:t>
            </a:r>
            <a:br>
              <a:rPr dirty="0"/>
            </a:br>
            <a:r>
              <a:rPr dirty="0"/>
              <a:t>4. Track contact, appointment, show and close rates separately.</a:t>
            </a:r>
            <a:br>
              <a:rPr dirty="0"/>
            </a:br>
            <a:r>
              <a:rPr dirty="0"/>
              <a:t>5. Cut weak sources; scale what converts.</a:t>
            </a:r>
            <a:br>
              <a:rPr dirty="0"/>
            </a:br>
            <a:r>
              <a:rPr dirty="0"/>
              <a:t>6. Measure retention downstream.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16352"/>
            <a:ext cx="381304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73152" cy="1536192"/>
          </a:xfrm>
          <a:prstGeom prst="rect">
            <a:avLst/>
          </a:prstGeom>
          <a:solidFill>
            <a:srgbClr val="BE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95351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MEASURE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19272"/>
            <a:ext cx="2574744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Cost/lead • Contact % • Appointment % •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Cost/held appt • Cost/enrollment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53712"/>
            <a:ext cx="3813048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4553712"/>
            <a:ext cx="73152" cy="1444752"/>
          </a:xfrm>
          <a:prstGeom prst="rect">
            <a:avLst/>
          </a:prstGeom>
          <a:solidFill>
            <a:srgbClr val="A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69087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WATCH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056632"/>
            <a:ext cx="3447288" cy="56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A low lead price can hide poor quality.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Judge vendors on economics through enrollment and retention.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6F80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E34"/>
                </a:solidFill>
                <a:latin typeface="Aptos"/>
              </a:rPr>
              <a:t>SENIOR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06F80"/>
                </a:solidFill>
                <a:latin typeface="Aptos"/>
              </a:rPr>
              <a:t>Community events create trust at scale when the broker teaches first and sells second.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234440"/>
          </a:xfrm>
          <a:prstGeom prst="rect">
            <a:avLst/>
          </a:prstGeom>
          <a:solidFill>
            <a:srgbClr val="18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NEW BROKER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4310795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Use events to become visible. Partner with communities, libraries, clubs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and organizations where seniors gather.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73152" cy="1234440"/>
          </a:xfrm>
          <a:prstGeom prst="rect">
            <a:avLst/>
          </a:prstGeom>
          <a:solidFill>
            <a:srgbClr val="26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VETERAN BROKER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086375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Create a repeatable calendar with existing community relationships.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Use education to deepen trust and generate appointments.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690372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16352"/>
            <a:ext cx="73152" cy="3182112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6537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AEP EXECUTION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19272"/>
            <a:ext cx="6235938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1. Build a target venue list.</a:t>
            </a:r>
            <a:br>
              <a:rPr dirty="0"/>
            </a:br>
            <a:r>
              <a:rPr dirty="0"/>
              <a:t>2. Offer a clear educational topic.</a:t>
            </a:r>
            <a:br>
              <a:rPr dirty="0"/>
            </a:br>
            <a:r>
              <a:rPr dirty="0"/>
              <a:t>3. Promote early with the host and define follow-up.</a:t>
            </a:r>
            <a:br>
              <a:rPr dirty="0"/>
            </a:br>
            <a:r>
              <a:rPr dirty="0"/>
              <a:t>4. Prepare compliant presentation and appointment process.</a:t>
            </a:r>
            <a:br>
              <a:rPr dirty="0"/>
            </a:br>
            <a:r>
              <a:rPr dirty="0"/>
              <a:t>5. Track attendance, appointments and enrollments.</a:t>
            </a:r>
            <a:br>
              <a:rPr dirty="0"/>
            </a:br>
            <a:r>
              <a:rPr dirty="0"/>
              <a:t>6. Rebook productive venues before leaving.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16352"/>
            <a:ext cx="381304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73152" cy="1536192"/>
          </a:xfrm>
          <a:prstGeom prst="rect">
            <a:avLst/>
          </a:prstGeom>
          <a:solidFill>
            <a:srgbClr val="BE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95351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MEASURE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19272"/>
            <a:ext cx="2741456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Events • Attendance • Appointments/event •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Show % • Enrollments/event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53712"/>
            <a:ext cx="3813048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4553712"/>
            <a:ext cx="73152" cy="1444752"/>
          </a:xfrm>
          <a:prstGeom prst="rect">
            <a:avLst/>
          </a:prstGeom>
          <a:solidFill>
            <a:srgbClr val="A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69087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WATCH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056632"/>
            <a:ext cx="2879314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The asset is recurring access to the community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— not a one-off event.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6F80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E34"/>
                </a:solidFill>
                <a:latin typeface="Aptos"/>
              </a:rPr>
              <a:t>CARRIER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06F80"/>
                </a:solidFill>
                <a:latin typeface="Aptos"/>
              </a:rPr>
              <a:t>Use carrier resources to expand reach, sharpen product knowledge and create compliant consumer opportunities.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234440"/>
          </a:xfrm>
          <a:prstGeom prst="rect">
            <a:avLst/>
          </a:prstGeom>
          <a:solidFill>
            <a:srgbClr val="18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NEW BROKER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4665060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Lean into carrier training, event opportunities, materials and field relationships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to accelerate your learning curve.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73152" cy="1234440"/>
          </a:xfrm>
          <a:prstGeom prst="rect">
            <a:avLst/>
          </a:prstGeom>
          <a:solidFill>
            <a:srgbClr val="26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VETERAN BROKER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644220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Choose events strategically based on book opportunity, local competitiveness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and where your team needs reach.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690372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16352"/>
            <a:ext cx="73152" cy="3182112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6537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AEP EXECUTION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19272"/>
            <a:ext cx="5068247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1. Map carrier event opportunities before AEP.</a:t>
            </a:r>
            <a:br>
              <a:rPr dirty="0"/>
            </a:br>
            <a:r>
              <a:rPr dirty="0"/>
              <a:t>2. Complete certifications and training early.</a:t>
            </a:r>
            <a:br>
              <a:rPr dirty="0"/>
            </a:br>
            <a:r>
              <a:rPr dirty="0"/>
              <a:t>3. Prioritize events aligned to your market.</a:t>
            </a:r>
            <a:br>
              <a:rPr dirty="0"/>
            </a:br>
            <a:r>
              <a:rPr dirty="0"/>
              <a:t>4. Know the event purpose and compliance rules.</a:t>
            </a:r>
            <a:br>
              <a:rPr dirty="0"/>
            </a:br>
            <a:r>
              <a:rPr dirty="0"/>
              <a:t>5. Work permitted follow-up immediately.</a:t>
            </a:r>
            <a:br>
              <a:rPr dirty="0"/>
            </a:br>
            <a:r>
              <a:rPr dirty="0"/>
              <a:t>6. Review ROI by carrier/event type.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16352"/>
            <a:ext cx="381304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73152" cy="1536192"/>
          </a:xfrm>
          <a:prstGeom prst="rect">
            <a:avLst/>
          </a:prstGeom>
          <a:solidFill>
            <a:srgbClr val="BE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95351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MEASURE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19272"/>
            <a:ext cx="2763898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Events • Attendance • Leads/appointments •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Enrollments • ROI/event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53712"/>
            <a:ext cx="3813048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4553712"/>
            <a:ext cx="73152" cy="1444752"/>
          </a:xfrm>
          <a:prstGeom prst="rect">
            <a:avLst/>
          </a:prstGeom>
          <a:solidFill>
            <a:srgbClr val="A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69087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WATCH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056632"/>
            <a:ext cx="3400290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Do not attend everything.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Calendar capacity is scarce; every event needs a reason.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6F80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E34"/>
                </a:solidFill>
                <a:latin typeface="Aptos"/>
              </a:rPr>
              <a:t>NETWORK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06F80"/>
                </a:solidFill>
                <a:latin typeface="Aptos"/>
              </a:rPr>
              <a:t>Build referral ecosystems with professionals and organizations that already serve your target market.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234440"/>
          </a:xfrm>
          <a:prstGeom prst="rect">
            <a:avLst/>
          </a:prstGeom>
          <a:solidFill>
            <a:srgbClr val="18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NEW BROKER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3836307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Focus on becoming useful to a small number of high-fit partners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and earning introductions.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73152" cy="1234440"/>
          </a:xfrm>
          <a:prstGeom prst="rect">
            <a:avLst/>
          </a:prstGeom>
          <a:solidFill>
            <a:srgbClr val="26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VETERAN BROKER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277133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Activate existing professional relationships before AEP and make it easy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for partners to connect people who need help.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690372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16352"/>
            <a:ext cx="73152" cy="3182112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6537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AEP EXECUTION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19272"/>
            <a:ext cx="65379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1. Target providers, pharmacies, financial professionals, community groups and businesses.</a:t>
            </a:r>
            <a:br>
              <a:rPr dirty="0"/>
            </a:br>
            <a:r>
              <a:rPr dirty="0"/>
              <a:t>2. Lead with education and problem-solving.</a:t>
            </a:r>
            <a:br>
              <a:rPr dirty="0"/>
            </a:br>
            <a:r>
              <a:rPr dirty="0"/>
              <a:t>3. Schedule recurring touchpoints.</a:t>
            </a:r>
            <a:br>
              <a:rPr dirty="0"/>
            </a:br>
            <a:r>
              <a:rPr dirty="0"/>
              <a:t>4. Make referral handoffs easy and responsive.</a:t>
            </a:r>
            <a:br>
              <a:rPr dirty="0"/>
            </a:br>
            <a:r>
              <a:rPr dirty="0"/>
              <a:t>5. Follow through consistently.</a:t>
            </a:r>
            <a:br>
              <a:rPr dirty="0"/>
            </a:br>
            <a:r>
              <a:rPr dirty="0"/>
              <a:t>6. Track relationships that create appointments.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16352"/>
            <a:ext cx="381304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73152" cy="1536192"/>
          </a:xfrm>
          <a:prstGeom prst="rect">
            <a:avLst/>
          </a:prstGeom>
          <a:solidFill>
            <a:srgbClr val="BE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95351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MEASURE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19272"/>
            <a:ext cx="3074881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Partner touches • Active partners • Introductions •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Appointments • Enrollments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53712"/>
            <a:ext cx="3813048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4553712"/>
            <a:ext cx="73152" cy="1444752"/>
          </a:xfrm>
          <a:prstGeom prst="rect">
            <a:avLst/>
          </a:prstGeom>
          <a:solidFill>
            <a:srgbClr val="A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69087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WATCH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056632"/>
            <a:ext cx="3207929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Networking without a follow-up system becomes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social activity. Every relationship needs a next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6F80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A1E34"/>
                </a:solidFill>
                <a:latin typeface="Aptos"/>
              </a:rPr>
              <a:t>VETERAN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06F80"/>
                </a:solidFill>
                <a:latin typeface="Aptos"/>
              </a:rPr>
              <a:t>Veteran-focused outreach should be educational, respectful and built around the community’s specific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73152" cy="1234440"/>
          </a:xfrm>
          <a:prstGeom prst="rect">
            <a:avLst/>
          </a:prstGeom>
          <a:solidFill>
            <a:srgbClr val="185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NEW BROKER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3943708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Partner with established veteran organizations and learn common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Medicare/VA/other-coverage coordination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7160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73152" cy="1234440"/>
          </a:xfrm>
          <a:prstGeom prst="rect">
            <a:avLst/>
          </a:prstGeom>
          <a:solidFill>
            <a:srgbClr val="26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08760"/>
            <a:ext cx="49834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VETERAN BROKER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874519"/>
            <a:ext cx="4519186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Use existing client relationships and community credibility to build recurring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veteran education and referral opportunities.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6903720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816352"/>
            <a:ext cx="73152" cy="3182112"/>
          </a:xfrm>
          <a:prstGeom prst="rect">
            <a:avLst/>
          </a:prstGeom>
          <a:solidFill>
            <a:srgbClr val="0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2"/>
            <a:ext cx="6537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AEP EXECUTION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19272"/>
            <a:ext cx="65379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1. Identify veteran organizations and community events.</a:t>
            </a:r>
            <a:br>
              <a:rPr dirty="0"/>
            </a:br>
            <a:r>
              <a:rPr dirty="0"/>
              <a:t>2. Prepare education around Medicare choices and coordination questions.</a:t>
            </a:r>
            <a:br>
              <a:rPr dirty="0"/>
            </a:br>
            <a:r>
              <a:rPr dirty="0"/>
              <a:t>3. Build relationships with trusted community leaders.</a:t>
            </a:r>
            <a:br>
              <a:rPr dirty="0"/>
            </a:br>
            <a:r>
              <a:rPr dirty="0"/>
              <a:t>4. Use scheduled education plus individual follow-up.</a:t>
            </a:r>
            <a:br>
              <a:rPr dirty="0"/>
            </a:br>
            <a:r>
              <a:rPr dirty="0"/>
              <a:t>5. Keep messaging needs-based and compliant.</a:t>
            </a:r>
            <a:br>
              <a:rPr dirty="0"/>
            </a:br>
            <a:r>
              <a:rPr dirty="0"/>
              <a:t>6. Measure repeat invitations and referrals.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16352"/>
            <a:ext cx="381304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73152" cy="1536192"/>
          </a:xfrm>
          <a:prstGeom prst="rect">
            <a:avLst/>
          </a:prstGeom>
          <a:solidFill>
            <a:srgbClr val="BE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295351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MEASURE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319272"/>
            <a:ext cx="2545890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Organizations • Events • Attendance •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Appointments • Referrals • Repeat invites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53712"/>
            <a:ext cx="3813048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4553712"/>
            <a:ext cx="73152" cy="1444752"/>
          </a:xfrm>
          <a:prstGeom prst="rect">
            <a:avLst/>
          </a:prstGeom>
          <a:solidFill>
            <a:srgbClr val="A0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4690872"/>
            <a:ext cx="34472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E34"/>
                </a:solidFill>
                <a:latin typeface="Aptos"/>
              </a:rPr>
              <a:t>WATCH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056632"/>
            <a:ext cx="3046027" cy="409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 dirty="0">
                <a:solidFill>
                  <a:srgbClr val="606F80"/>
                </a:solidFill>
                <a:latin typeface="Aptos"/>
              </a:rPr>
              <a:t>Do not imply affiliation with the VA or government. </a:t>
            </a:r>
            <a:endParaRPr lang="en-US" sz="1030" b="0" dirty="0">
              <a:solidFill>
                <a:srgbClr val="606F80"/>
              </a:solidFill>
              <a:latin typeface="Aptos"/>
            </a:endParaRPr>
          </a:p>
          <a:p>
            <a:r>
              <a:rPr sz="1030" b="0" dirty="0">
                <a:solidFill>
                  <a:srgbClr val="606F80"/>
                </a:solidFill>
                <a:latin typeface="Aptos"/>
              </a:rPr>
              <a:t>Verify each person’s coverage circumstances.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06F80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BUILD YOUR AEP CHANNEL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2DCE6"/>
                </a:solidFill>
                <a:latin typeface="Aptos"/>
              </a:rPr>
              <a:t>Do not choose eight priorities. Choose the right four to six — then put a number next to each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2542032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764792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E34"/>
                </a:solidFill>
                <a:latin typeface="Aptos"/>
              </a:rPr>
              <a:t>EXISTING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21992"/>
            <a:ext cx="2212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06F80"/>
                </a:solidFill>
                <a:latin typeface="Aptos"/>
              </a:rPr>
              <a:t>Protect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79191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5B9D"/>
                </a:solidFill>
                <a:latin typeface="Aptos"/>
              </a:rPr>
              <a:t>Veteran: HEAVY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600200"/>
            <a:ext cx="2542032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764792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E34"/>
                </a:solidFill>
                <a:latin typeface="Aptos"/>
              </a:rPr>
              <a:t>PLAN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221992"/>
            <a:ext cx="2212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06F80"/>
                </a:solidFill>
                <a:latin typeface="Aptos"/>
              </a:rPr>
              <a:t>Triage disruption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679191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5B9D"/>
                </a:solidFill>
                <a:latin typeface="Aptos"/>
              </a:rPr>
              <a:t>Both: HEAVY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2542032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764792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E34"/>
                </a:solidFill>
                <a:latin typeface="Aptos"/>
              </a:rPr>
              <a:t>RETAIL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21992"/>
            <a:ext cx="2212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06F80"/>
                </a:solidFill>
                <a:latin typeface="Aptos"/>
              </a:rPr>
              <a:t>Conversation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679191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5B9D"/>
                </a:solidFill>
                <a:latin typeface="Aptos"/>
              </a:rPr>
              <a:t>New: HEAVY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600200"/>
            <a:ext cx="2542032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5711" y="1764792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E34"/>
                </a:solidFill>
                <a:latin typeface="Aptos"/>
              </a:rPr>
              <a:t>BUYING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2221992"/>
            <a:ext cx="2212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06F80"/>
                </a:solidFill>
                <a:latin typeface="Aptos"/>
              </a:rPr>
              <a:t>Fill calendar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2679191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5B9D"/>
                </a:solidFill>
                <a:latin typeface="Aptos"/>
              </a:rPr>
              <a:t>New: SELECTIVE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66160"/>
            <a:ext cx="2542032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730752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E34"/>
                </a:solidFill>
                <a:latin typeface="Aptos"/>
              </a:rPr>
              <a:t>SENIOR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187952"/>
            <a:ext cx="2212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06F80"/>
                </a:solidFill>
                <a:latin typeface="Aptos"/>
              </a:rPr>
              <a:t>Community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645152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5B9D"/>
                </a:solidFill>
                <a:latin typeface="Aptos"/>
              </a:rPr>
              <a:t>Both: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79" y="3566160"/>
            <a:ext cx="2542032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47872" y="3730752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E34"/>
                </a:solidFill>
                <a:latin typeface="Aptos"/>
              </a:rPr>
              <a:t>CARRIER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4187952"/>
            <a:ext cx="2212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06F80"/>
                </a:solidFill>
                <a:latin typeface="Aptos"/>
              </a:rPr>
              <a:t>Leverage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4645152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5B9D"/>
                </a:solidFill>
                <a:latin typeface="Aptos"/>
              </a:rPr>
              <a:t>Both: SELECTIVE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66160"/>
            <a:ext cx="2542032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3730752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E34"/>
                </a:solidFill>
                <a:latin typeface="Aptos"/>
              </a:rPr>
              <a:t>NETWORK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187952"/>
            <a:ext cx="2212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06F80"/>
                </a:solidFill>
                <a:latin typeface="Aptos"/>
              </a:rPr>
              <a:t>Referral ecosystem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645152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5B9D"/>
                </a:solidFill>
                <a:latin typeface="Aptos"/>
              </a:rPr>
              <a:t>Both: 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19" y="3566160"/>
            <a:ext cx="2542032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25711" y="3730752"/>
            <a:ext cx="2212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E34"/>
                </a:solidFill>
                <a:latin typeface="Aptos"/>
              </a:rPr>
              <a:t>VETERAN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1" y="4187952"/>
            <a:ext cx="2212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06F80"/>
                </a:solidFill>
                <a:latin typeface="Aptos"/>
              </a:rPr>
              <a:t>Focused community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1" y="4645152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5B9D"/>
                </a:solidFill>
                <a:latin typeface="Aptos"/>
              </a:rPr>
              <a:t>Market dependent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06440"/>
            <a:ext cx="109387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Aptos"/>
              </a:rPr>
              <a:t>THE TEST: Can you state the weekly target, owner, calendar block and KPI 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(Key Performance Indicator) 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for every channel you selected?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B4C3D2"/>
                </a:solidFill>
                <a:latin typeface="Aptos"/>
              </a:rPr>
              <a:t>MEDICARE AEP • FIELD PLAYBOOK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2768</Words>
  <Application>Microsoft Office PowerPoint</Application>
  <PresentationFormat>Widescreen</PresentationFormat>
  <Paragraphs>556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Tyler Insurance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AEP Playbook — New &amp; Veteran Broker Strategy</dc:title>
  <dc:subject>Medicare AEP Broker Planning</dc:subject>
  <dc:creator>OpenAI</dc:creator>
  <cp:lastModifiedBy>Eric Price</cp:lastModifiedBy>
  <cp:revision>2</cp:revision>
  <dcterms:created xsi:type="dcterms:W3CDTF">2026-08-19T17:59:43Z</dcterms:created>
  <dcterms:modified xsi:type="dcterms:W3CDTF">2026-08-21T16:51:04Z</dcterms:modified>
</cp:coreProperties>
</file>